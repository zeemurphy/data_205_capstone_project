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79" r:id="rId3"/>
    <p:sldId id="272" r:id="rId4"/>
    <p:sldId id="256" r:id="rId5"/>
    <p:sldId id="273" r:id="rId6"/>
    <p:sldId id="263" r:id="rId7"/>
    <p:sldId id="276" r:id="rId8"/>
    <p:sldId id="277" r:id="rId9"/>
    <p:sldId id="265" r:id="rId10"/>
    <p:sldId id="280" r:id="rId11"/>
    <p:sldId id="267" r:id="rId12"/>
    <p:sldId id="268" r:id="rId13"/>
    <p:sldId id="269" r:id="rId14"/>
    <p:sldId id="275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6" y="3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AE01-ACF0-46B9-943F-D881F122529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2D991-D02E-4237-9ED8-BAD2A0D7A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9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76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ZeeMurphy/Data_205Capstone_Project" TargetMode="External"/><Relationship Id="rId4" Type="http://schemas.openxmlformats.org/officeDocument/2006/relationships/hyperlink" Target="https://zeemurphy.github.io/Data_205_Capstone_Project/analysis/dashboard/cognitive_decline_da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lz.2013.10.00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131D8E70-D2BD-4BA6-8CA8-1F4FC6998F7E}"/>
              </a:ext>
            </a:extLst>
          </p:cNvPr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b="1" dirty="0">
              <a:solidFill>
                <a:srgbClr val="7A7A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28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Decline Risk Factors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B9AE13B-B601-4BA3-B31A-A8DEA670E0E3}"/>
              </a:ext>
            </a:extLst>
          </p:cNvPr>
          <p:cNvSpPr/>
          <p:nvPr/>
        </p:nvSpPr>
        <p:spPr>
          <a:xfrm>
            <a:off x="457200" y="189944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800" b="1" dirty="0">
              <a:solidFill>
                <a:srgbClr val="7A7A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28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U.S. Older Adults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509699-EC9F-49B8-98D8-33F2426A4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0" y="338641"/>
            <a:ext cx="2949961" cy="601958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9C016405-EF85-4E29-9BA8-4588C767BAC1}"/>
              </a:ext>
            </a:extLst>
          </p:cNvPr>
          <p:cNvSpPr/>
          <p:nvPr/>
        </p:nvSpPr>
        <p:spPr>
          <a:xfrm>
            <a:off x="0" y="3730752"/>
            <a:ext cx="9144000" cy="54864"/>
          </a:xfrm>
          <a:prstGeom prst="rect">
            <a:avLst/>
          </a:prstGeom>
          <a:solidFill>
            <a:srgbClr val="00A9CE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BC48C-9C91-4217-A692-3CCE58E5D296}"/>
              </a:ext>
            </a:extLst>
          </p:cNvPr>
          <p:cNvSpPr txBox="1"/>
          <p:nvPr/>
        </p:nvSpPr>
        <p:spPr>
          <a:xfrm>
            <a:off x="3035070" y="2828980"/>
            <a:ext cx="5651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 dirty="0">
                <a:solidFill>
                  <a:srgbClr val="00A9CE"/>
                </a:solidFill>
              </a:rPr>
              <a:t>Geographic, Behavioral &amp; Socioeconomic Patterns </a:t>
            </a:r>
            <a:r>
              <a:rPr lang="en-US" sz="1400" b="0" i="1" dirty="0">
                <a:solidFill>
                  <a:srgbClr val="00A9CE"/>
                </a:solidFill>
              </a:rPr>
              <a:t>-</a:t>
            </a:r>
            <a:r>
              <a:rPr sz="1400" b="0" i="1" dirty="0">
                <a:solidFill>
                  <a:srgbClr val="00A9CE"/>
                </a:solidFill>
              </a:rPr>
              <a:t> CDC BRFSS 2015</a:t>
            </a:r>
            <a:r>
              <a:rPr lang="en-US" sz="1400" b="0" i="1" dirty="0">
                <a:solidFill>
                  <a:srgbClr val="00A9CE"/>
                </a:solidFill>
              </a:rPr>
              <a:t>-</a:t>
            </a:r>
            <a:r>
              <a:rPr sz="1400" b="0" i="1" dirty="0">
                <a:solidFill>
                  <a:srgbClr val="00A9CE"/>
                </a:solidFill>
              </a:rPr>
              <a:t>2022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C47436-959D-4291-80F5-88C2E0E22FCF}"/>
              </a:ext>
            </a:extLst>
          </p:cNvPr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C3D62DC-6B6B-420C-91D8-209A65D30A42}"/>
              </a:ext>
            </a:extLst>
          </p:cNvPr>
          <p:cNvSpPr/>
          <p:nvPr/>
        </p:nvSpPr>
        <p:spPr>
          <a:xfrm>
            <a:off x="729378" y="482270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Zivar Murphy | DATA 205- CRN 32036 - Capstone   |  Spring 2026  |  Prof. Lori Perine 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5F467-90A9-47BE-899D-FCE0C5B24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5" y="1166955"/>
            <a:ext cx="2505308" cy="25053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464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59048" y="120208"/>
            <a:ext cx="5220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Burden of Alzheimer's Disease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6888" y="1382193"/>
            <a:ext cx="4279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" y="1367752"/>
            <a:ext cx="4279392" cy="329184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392241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People Living with Clinical Alzheimer's Disease (U.S.)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775385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4B2D82"/>
                </a:solidFill>
                <a:latin typeface="Calibri"/>
              </a:rPr>
              <a:t>6.07</a:t>
            </a:r>
            <a:r>
              <a:rPr sz="3200" b="1" i="0" dirty="0">
                <a:solidFill>
                  <a:srgbClr val="4B2D82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1885113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DD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1775385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B83030"/>
                </a:solidFill>
                <a:latin typeface="Calibri"/>
              </a:rPr>
              <a:t>13.85M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287449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C1C2E"/>
                </a:solidFill>
                <a:latin typeface="Calibri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287449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83030"/>
                </a:solidFill>
                <a:latin typeface="Calibri"/>
              </a:rPr>
              <a:t>2060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543481"/>
            <a:ext cx="3913632" cy="27432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2598344"/>
            <a:ext cx="4096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1C1C2E"/>
                </a:solidFill>
                <a:latin typeface="Calibri"/>
              </a:rPr>
              <a:t>128% increase  ·  </a:t>
            </a:r>
            <a:r>
              <a:rPr sz="1400" b="0" i="1" dirty="0" err="1">
                <a:solidFill>
                  <a:srgbClr val="1C1C2E"/>
                </a:solidFill>
                <a:latin typeface="Calibri"/>
              </a:rPr>
              <a:t>Rajan</a:t>
            </a:r>
            <a:r>
              <a:rPr sz="1400" b="0" i="1" dirty="0">
                <a:solidFill>
                  <a:srgbClr val="1C1C2E"/>
                </a:solidFill>
                <a:latin typeface="Calibri"/>
              </a:rPr>
              <a:t> et al., Alzheimer's &amp; Dementia (2021)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1382193"/>
            <a:ext cx="4279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90872" y="1382193"/>
            <a:ext cx="4279392" cy="329184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54296" y="1407281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Annual Cost of Alzheimer's &amp; Dementia Care (U.S.)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775385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6A00"/>
                </a:solidFill>
                <a:latin typeface="Calibri"/>
              </a:rPr>
              <a:t>$450B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865071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CCCCDD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1775385"/>
            <a:ext cx="1691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B83030"/>
                </a:solidFill>
                <a:latin typeface="Calibri"/>
              </a:rPr>
              <a:t>$3.3T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287449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C1C2E"/>
                </a:solidFill>
                <a:latin typeface="Calibri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2904" y="2287449"/>
            <a:ext cx="169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83030"/>
                </a:solidFill>
                <a:latin typeface="Calibri"/>
              </a:rPr>
              <a:t>2060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3752" y="2543481"/>
            <a:ext cx="3913632" cy="27432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2598344"/>
            <a:ext cx="4279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1C1C2E"/>
                </a:solidFill>
                <a:latin typeface="Calibri"/>
              </a:rPr>
              <a:t>Formal + informal care  ·  Nandi et al., </a:t>
            </a:r>
            <a:r>
              <a:rPr sz="1400" b="0" i="1" dirty="0" err="1">
                <a:solidFill>
                  <a:srgbClr val="1C1C2E"/>
                </a:solidFill>
                <a:latin typeface="Calibri"/>
              </a:rPr>
              <a:t>npj</a:t>
            </a:r>
            <a:r>
              <a:rPr sz="1400" b="0" i="1" dirty="0">
                <a:solidFill>
                  <a:srgbClr val="1C1C2E"/>
                </a:solidFill>
                <a:latin typeface="Calibri"/>
              </a:rPr>
              <a:t> Aging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863521"/>
            <a:ext cx="4096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1C2E"/>
                </a:solidFill>
                <a:latin typeface="Calibri"/>
              </a:rPr>
              <a:t>Formal care alone: $196B (2020) → $1.4T (2060). Informal caregiving adds another $254B in 2020 — borne by families.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3604573"/>
            <a:ext cx="8814816" cy="105212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project identifies which states face the highest burden and which factors explain it — providing a data-driven foundation for where intervention dollars could have the greatest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880" y="4818888"/>
            <a:ext cx="48067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59F02F2-1562-4317-8A50-8ABCBA0F4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4EE20DE-F3AA-45D0-802E-01BCA877602F}"/>
              </a:ext>
            </a:extLst>
          </p:cNvPr>
          <p:cNvSpPr txBox="1"/>
          <p:nvPr/>
        </p:nvSpPr>
        <p:spPr>
          <a:xfrm>
            <a:off x="347472" y="3662556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  <a:latin typeface="Calibri"/>
              </a:rPr>
              <a:t>The question</a:t>
            </a:r>
            <a:r>
              <a:rPr lang="en-US" sz="1400" b="1" i="0" dirty="0">
                <a:solidFill>
                  <a:srgbClr val="4B2D82"/>
                </a:solidFill>
                <a:latin typeface="Calibri"/>
              </a:rPr>
              <a:t>s</a:t>
            </a:r>
            <a:r>
              <a:rPr sz="1400" b="1" i="0" dirty="0">
                <a:solidFill>
                  <a:srgbClr val="4B2D82"/>
                </a:solidFill>
                <a:latin typeface="Calibri"/>
              </a:rPr>
              <a:t> this project addresses: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0D77E7-537B-478C-B477-8E96FF1E77BA}"/>
              </a:ext>
            </a:extLst>
          </p:cNvPr>
          <p:cNvSpPr txBox="1"/>
          <p:nvPr/>
        </p:nvSpPr>
        <p:spPr>
          <a:xfrm>
            <a:off x="347472" y="4006575"/>
            <a:ext cx="8531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/>
              <a:t>This project identifies which states face the highest burden and which factors explain it, providing a data-driven foundation for where intervention could have the greatest impact</a:t>
            </a:r>
            <a:endParaRPr sz="1400" b="0" i="1" dirty="0">
              <a:solidFill>
                <a:srgbClr val="1C1C2E"/>
              </a:solidFill>
              <a:latin typeface="Calibr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2363F7B-9509-4149-9197-8A420BF4F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65" y="1270126"/>
            <a:ext cx="545019" cy="54501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90E7A1B-64E5-48EC-B0C3-A488B2259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529" y="2808657"/>
            <a:ext cx="864320" cy="6313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1A8520-FC4E-4E38-8030-92617E08421E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47C7E-D14E-4E28-B322-8BF8A99B6A15}"/>
              </a:ext>
            </a:extLst>
          </p:cNvPr>
          <p:cNvSpPr txBox="1"/>
          <p:nvPr/>
        </p:nvSpPr>
        <p:spPr>
          <a:xfrm>
            <a:off x="3234122" y="120063"/>
            <a:ext cx="5752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Goal, Data Sources &amp; 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94B93-2E28-4DE8-A89A-7EB63F21CC39}"/>
              </a:ext>
            </a:extLst>
          </p:cNvPr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26769-3A88-4621-91F2-B90331C80441}"/>
              </a:ext>
            </a:extLst>
          </p:cNvPr>
          <p:cNvSpPr txBox="1"/>
          <p:nvPr/>
        </p:nvSpPr>
        <p:spPr>
          <a:xfrm>
            <a:off x="256032" y="896112"/>
            <a:ext cx="8686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4B2D82"/>
                </a:solidFill>
              </a:rPr>
              <a:t>Goal: Analyze how health, behavioral, and socioeconomic factors influence cognitive decline among older U.S. adults, and provide insights for policymakers to identify high-risk populations.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78918-17AA-46E1-B31B-BAC25456710F}"/>
              </a:ext>
            </a:extLst>
          </p:cNvPr>
          <p:cNvSpPr/>
          <p:nvPr/>
        </p:nvSpPr>
        <p:spPr>
          <a:xfrm>
            <a:off x="201168" y="1490472"/>
            <a:ext cx="2816352" cy="18182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B3504-B977-4789-8E64-6B396509986B}"/>
              </a:ext>
            </a:extLst>
          </p:cNvPr>
          <p:cNvSpPr/>
          <p:nvPr/>
        </p:nvSpPr>
        <p:spPr>
          <a:xfrm>
            <a:off x="201168" y="1490472"/>
            <a:ext cx="2816352" cy="329184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D6BE8-6132-4350-8137-AD06022DFBB0}"/>
              </a:ext>
            </a:extLst>
          </p:cNvPr>
          <p:cNvSpPr txBox="1"/>
          <p:nvPr/>
        </p:nvSpPr>
        <p:spPr>
          <a:xfrm>
            <a:off x="72000" y="1527048"/>
            <a:ext cx="294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Primary Dataset: CDC BRFSS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7330C-622F-4FC9-A057-19FB7E601211}"/>
              </a:ext>
            </a:extLst>
          </p:cNvPr>
          <p:cNvSpPr txBox="1"/>
          <p:nvPr/>
        </p:nvSpPr>
        <p:spPr>
          <a:xfrm>
            <a:off x="201168" y="1802403"/>
            <a:ext cx="31832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Alzheimer's Disease &amp; Healthy Aging Data</a:t>
            </a:r>
            <a:r>
              <a:rPr lang="en-US" sz="1400" dirty="0">
                <a:solidFill>
                  <a:srgbClr val="1C1C2E"/>
                </a:solidFill>
              </a:rPr>
              <a:t>, 2015-2022</a:t>
            </a:r>
            <a:endParaRPr lang="en-US" sz="1400" b="0" i="0" dirty="0">
              <a:solidFill>
                <a:srgbClr val="1C1C2E"/>
              </a:solidFill>
            </a:endParaRPr>
          </a:p>
          <a:p>
            <a:pPr algn="l"/>
            <a:endParaRPr sz="1400" b="0" i="0" dirty="0">
              <a:solidFill>
                <a:srgbClr val="1C1C2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77F69-DA7B-4B66-8CE1-33EA3F99E01C}"/>
              </a:ext>
            </a:extLst>
          </p:cNvPr>
          <p:cNvSpPr txBox="1"/>
          <p:nvPr/>
        </p:nvSpPr>
        <p:spPr>
          <a:xfrm>
            <a:off x="209304" y="2248613"/>
            <a:ext cx="2863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284,142 rows × 31 columns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5B057D-CA26-41E0-8BEB-3D94CC01B5F9}"/>
              </a:ext>
            </a:extLst>
          </p:cNvPr>
          <p:cNvSpPr txBox="1"/>
          <p:nvPr/>
        </p:nvSpPr>
        <p:spPr>
          <a:xfrm>
            <a:off x="182160" y="2479057"/>
            <a:ext cx="2854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Survey-based, state-level, adults 45+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CD338-8F41-4C3B-AD64-DAA249A80407}"/>
              </a:ext>
            </a:extLst>
          </p:cNvPr>
          <p:cNvSpPr txBox="1"/>
          <p:nvPr/>
        </p:nvSpPr>
        <p:spPr>
          <a:xfrm>
            <a:off x="177771" y="2712630"/>
            <a:ext cx="2615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Loaded live via CDC SODA2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11C9FC-0EB1-40DD-AC3A-C5D696107AE7}"/>
              </a:ext>
            </a:extLst>
          </p:cNvPr>
          <p:cNvSpPr txBox="1"/>
          <p:nvPr/>
        </p:nvSpPr>
        <p:spPr>
          <a:xfrm>
            <a:off x="144216" y="3054705"/>
            <a:ext cx="26151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0056B3"/>
                </a:solidFill>
              </a:rPr>
              <a:t>🔗 data.cdc.gov/Healthy-Aging/hfr9-rurv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CCC44-9A4F-4F3F-B0FD-1E61A83F7212}"/>
              </a:ext>
            </a:extLst>
          </p:cNvPr>
          <p:cNvSpPr/>
          <p:nvPr/>
        </p:nvSpPr>
        <p:spPr>
          <a:xfrm>
            <a:off x="3087147" y="1498072"/>
            <a:ext cx="3053664" cy="18608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ea typeface="Calibri" pitchFamily="34" charset="-122"/>
                <a:cs typeface="Calibri" pitchFamily="34" charset="-120"/>
              </a:rPr>
              <a:t>American Community Survey, 5-Year Estimates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ea typeface="Calibri" pitchFamily="34" charset="-122"/>
                <a:cs typeface="Calibri" pitchFamily="34" charset="-120"/>
              </a:rPr>
              <a:t>2018–2022 (DP03_0062E)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ea typeface="Calibri" pitchFamily="34" charset="-122"/>
                <a:cs typeface="Calibri" pitchFamily="34" charset="-120"/>
              </a:rPr>
              <a:t>% adults with bachelor’s degree+ (DP02_0068PE)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82078-1022-4B84-9145-95F336EF508B}"/>
              </a:ext>
            </a:extLst>
          </p:cNvPr>
          <p:cNvSpPr/>
          <p:nvPr/>
        </p:nvSpPr>
        <p:spPr>
          <a:xfrm>
            <a:off x="3072383" y="1490472"/>
            <a:ext cx="3068427" cy="329184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46DAB-146A-4857-BB2E-EC6262F8F6A5}"/>
              </a:ext>
            </a:extLst>
          </p:cNvPr>
          <p:cNvSpPr txBox="1"/>
          <p:nvPr/>
        </p:nvSpPr>
        <p:spPr>
          <a:xfrm>
            <a:off x="3163824" y="1527048"/>
            <a:ext cx="2615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Secondary Dataset: Census ACS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A1B4A4-07C1-44EF-924B-EAE779358114}"/>
              </a:ext>
            </a:extLst>
          </p:cNvPr>
          <p:cNvSpPr txBox="1"/>
          <p:nvPr/>
        </p:nvSpPr>
        <p:spPr>
          <a:xfrm>
            <a:off x="3163824" y="3081528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056B3"/>
                </a:solidFill>
              </a:rPr>
              <a:t>🔗 api.census.gov/data/2022/acs/acs5/profile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5F91C4-2311-4482-93E7-95737D1BD86D}"/>
              </a:ext>
            </a:extLst>
          </p:cNvPr>
          <p:cNvSpPr/>
          <p:nvPr/>
        </p:nvSpPr>
        <p:spPr>
          <a:xfrm>
            <a:off x="6225479" y="1514074"/>
            <a:ext cx="2761488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36D-479F-4CA2-83D7-3813B258B31D}"/>
              </a:ext>
            </a:extLst>
          </p:cNvPr>
          <p:cNvSpPr/>
          <p:nvPr/>
        </p:nvSpPr>
        <p:spPr>
          <a:xfrm>
            <a:off x="6225480" y="1490472"/>
            <a:ext cx="2761488" cy="329184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13D72E-F75F-4BFA-B631-536F8113BF8A}"/>
              </a:ext>
            </a:extLst>
          </p:cNvPr>
          <p:cNvSpPr txBox="1"/>
          <p:nvPr/>
        </p:nvSpPr>
        <p:spPr>
          <a:xfrm>
            <a:off x="6145056" y="1527048"/>
            <a:ext cx="2615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Tools &amp; Libraries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1D195-1580-4268-AB3F-F9C8C7720348}"/>
              </a:ext>
            </a:extLst>
          </p:cNvPr>
          <p:cNvSpPr txBox="1"/>
          <p:nvPr/>
        </p:nvSpPr>
        <p:spPr>
          <a:xfrm>
            <a:off x="6218208" y="1827106"/>
            <a:ext cx="2761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Python · Pandas · NumPy · Matplotlib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85B7FC-2F99-4283-9DBD-C4A9AA510A15}"/>
              </a:ext>
            </a:extLst>
          </p:cNvPr>
          <p:cNvSpPr txBox="1"/>
          <p:nvPr/>
        </p:nvSpPr>
        <p:spPr>
          <a:xfrm>
            <a:off x="6210438" y="2250887"/>
            <a:ext cx="2761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Seaborn · Plotly · Scikit-learn · SciPy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B91944-5EA1-4500-A1CA-C3F5A0343098}"/>
              </a:ext>
            </a:extLst>
          </p:cNvPr>
          <p:cNvSpPr txBox="1"/>
          <p:nvPr/>
        </p:nvSpPr>
        <p:spPr>
          <a:xfrm>
            <a:off x="6191430" y="2505456"/>
            <a:ext cx="2615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CDC SODA2 API · GitHub Pages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E67F65-1C83-490A-87C0-7E1069C44552}"/>
              </a:ext>
            </a:extLst>
          </p:cNvPr>
          <p:cNvSpPr txBox="1"/>
          <p:nvPr/>
        </p:nvSpPr>
        <p:spPr>
          <a:xfrm>
            <a:off x="6035040" y="3081528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56B3"/>
                </a:solidFill>
              </a:rPr>
              <a:t>🔗 github.com/ZeeMurphy/Data_205_Capstone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97508F-5054-4332-9BEA-1329590B3809}"/>
              </a:ext>
            </a:extLst>
          </p:cNvPr>
          <p:cNvSpPr/>
          <p:nvPr/>
        </p:nvSpPr>
        <p:spPr>
          <a:xfrm>
            <a:off x="201168" y="3419856"/>
            <a:ext cx="8741664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10D790-AE84-44F2-BA1D-445217980F6F}"/>
              </a:ext>
            </a:extLst>
          </p:cNvPr>
          <p:cNvSpPr/>
          <p:nvPr/>
        </p:nvSpPr>
        <p:spPr>
          <a:xfrm>
            <a:off x="201168" y="3419856"/>
            <a:ext cx="8741664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DACABC-A9C8-4038-9A8E-4803D7628D95}"/>
              </a:ext>
            </a:extLst>
          </p:cNvPr>
          <p:cNvSpPr txBox="1"/>
          <p:nvPr/>
        </p:nvSpPr>
        <p:spPr>
          <a:xfrm>
            <a:off x="320040" y="3447288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Data Pairing Type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EFA6D2-714C-48E2-AF99-F059B0B0384D}"/>
              </a:ext>
            </a:extLst>
          </p:cNvPr>
          <p:cNvSpPr txBox="1"/>
          <p:nvPr/>
        </p:nvSpPr>
        <p:spPr>
          <a:xfrm>
            <a:off x="320040" y="3749039"/>
            <a:ext cx="8503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Contextual Pairing</a:t>
            </a:r>
            <a:r>
              <a:rPr lang="en-US" sz="1400" b="0" i="0" dirty="0">
                <a:solidFill>
                  <a:srgbClr val="1C1C2E"/>
                </a:solidFill>
              </a:rPr>
              <a:t>:</a:t>
            </a:r>
            <a:r>
              <a:rPr sz="1400" b="0" i="0" dirty="0">
                <a:solidFill>
                  <a:srgbClr val="1C1C2E"/>
                </a:solidFill>
              </a:rPr>
              <a:t> CDC health </a:t>
            </a:r>
            <a:r>
              <a:rPr lang="en-US" sz="1400" b="0" i="0" dirty="0">
                <a:solidFill>
                  <a:srgbClr val="1C1C2E"/>
                </a:solidFill>
              </a:rPr>
              <a:t>data</a:t>
            </a:r>
            <a:r>
              <a:rPr sz="1400" b="0" i="0" dirty="0">
                <a:solidFill>
                  <a:srgbClr val="1C1C2E"/>
                </a:solidFill>
              </a:rPr>
              <a:t> is enriched with Census socioeconomic context. Both datasets are joined at the state level using </a:t>
            </a:r>
            <a:r>
              <a:rPr lang="en-US" sz="1400" b="0" i="0" dirty="0">
                <a:solidFill>
                  <a:srgbClr val="1C1C2E"/>
                </a:solidFill>
              </a:rPr>
              <a:t>the </a:t>
            </a:r>
            <a:r>
              <a:rPr sz="1400" b="0" i="0" dirty="0">
                <a:solidFill>
                  <a:srgbClr val="1C1C2E"/>
                </a:solidFill>
              </a:rPr>
              <a:t>state abbreviation as the common key.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209274-FEF0-4579-B669-DCC9CBFEE8E4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163CA24-92F6-4666-943A-C0B4EE203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41BF08E-875C-4143-93AD-AA13D51C49F6}"/>
              </a:ext>
            </a:extLst>
          </p:cNvPr>
          <p:cNvSpPr txBox="1"/>
          <p:nvPr/>
        </p:nvSpPr>
        <p:spPr>
          <a:xfrm>
            <a:off x="600542" y="4472976"/>
            <a:ext cx="7997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7A7A9A"/>
                </a:solidFill>
              </a:rPr>
              <a:t>Respondents: Adults aged 45+ (ages 45–64 and 65+)  ·  Self-reported survey data — not clinical diagnoses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BEBFE6-73C9-4CB0-A35A-A91046F2B582}"/>
              </a:ext>
            </a:extLst>
          </p:cNvPr>
          <p:cNvSpPr txBox="1"/>
          <p:nvPr/>
        </p:nvSpPr>
        <p:spPr>
          <a:xfrm>
            <a:off x="335280" y="4818888"/>
            <a:ext cx="5059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</p:spTree>
    <p:extLst>
      <p:ext uri="{BB962C8B-B14F-4D97-AF65-F5344CB8AC3E}">
        <p14:creationId xmlns:p14="http://schemas.microsoft.com/office/powerpoint/2010/main" val="51577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0" y="14964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914400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95097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932688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Filtered 59 locations → 51 jurisdictions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Removed U.S. territories (Puerto Rico, Guam) and regional rollups (Midwest, South…). Kept 50 states + D.C.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60934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591056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Stratification fix (critical)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847087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Filtered Stratification2 = NaN to keep only the 'Overall' row per state-year-question. Without this, sex/race breakdowns were averaged in 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underestimating all correlations.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31134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226771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24942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Selected 9 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05455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1 outcome (cognitive decline) + 8 risk factors: poor health, inactivity, mental distress, disability, smoking, binge drinking, depression, unhealthy days.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9504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2926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90779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Pivot table + state-level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163823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Pivoted to state × year format. Computed state averages (one value per state across all years reported) for correlation analysis.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47872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358444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566159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Merged with Census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82219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Joined CDC state averages with ACS income and education data for socioeconomic analysis (RQ10–11).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365760" cy="36576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24281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20624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B2D82"/>
                </a:solidFill>
                <a:latin typeface="Calibri"/>
              </a:rPr>
              <a:t>Converting data types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396181"/>
            <a:ext cx="9143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C1C2E"/>
                </a:solidFill>
                <a:latin typeface="Calibri"/>
              </a:rPr>
              <a:t>CDC API returns values as text</a:t>
            </a:r>
            <a:r>
              <a:rPr lang="en-US" sz="1400" b="0" dirty="0">
                <a:solidFill>
                  <a:srgbClr val="1C1C2E"/>
                </a:solidFill>
                <a:latin typeface="Calibri"/>
              </a:rPr>
              <a:t>,</a:t>
            </a:r>
            <a:r>
              <a:rPr sz="1400" b="0" dirty="0">
                <a:solidFill>
                  <a:srgbClr val="1C1C2E"/>
                </a:solidFill>
                <a:latin typeface="Calibri"/>
              </a:rPr>
              <a:t> Data_Value</a:t>
            </a:r>
            <a:r>
              <a:rPr lang="en-US" sz="1400" b="0" dirty="0">
                <a:solidFill>
                  <a:srgbClr val="1C1C2E"/>
                </a:solidFill>
                <a:latin typeface="Calibri"/>
              </a:rPr>
              <a:t>,</a:t>
            </a:r>
            <a:r>
              <a:rPr sz="1400" b="0" dirty="0">
                <a:solidFill>
                  <a:srgbClr val="1C1C2E"/>
                </a:solidFill>
                <a:latin typeface="Calibri"/>
              </a:rPr>
              <a:t> and YearStart converted to numeric via</a:t>
            </a:r>
            <a:r>
              <a:rPr lang="en-US" sz="1400" b="0" dirty="0">
                <a:solidFill>
                  <a:srgbClr val="1C1C2E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1C1C2E"/>
                </a:solidFill>
                <a:latin typeface="Calibri"/>
              </a:rPr>
              <a:t>pd.to_numeric(errors='coerce').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D5CBEDE-C3DD-4B58-85F1-A314499C4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92201"/>
            <a:ext cx="1908219" cy="38938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042D92F-DAA6-4452-A229-FCDD1D718F17}"/>
              </a:ext>
            </a:extLst>
          </p:cNvPr>
          <p:cNvSpPr txBox="1"/>
          <p:nvPr/>
        </p:nvSpPr>
        <p:spPr>
          <a:xfrm>
            <a:off x="58083" y="4842638"/>
            <a:ext cx="5059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67158" y="167498"/>
            <a:ext cx="5526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State Variation and Age Group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72822" y="853996"/>
            <a:ext cx="27432" cy="385876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822960"/>
            <a:ext cx="4087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C1C2E"/>
                </a:solidFill>
                <a:latin typeface="Calibri"/>
              </a:rPr>
              <a:t>Which states have the highest cognitive declin</a:t>
            </a:r>
            <a:r>
              <a:rPr lang="en-US" sz="1400" b="1" i="0" dirty="0">
                <a:solidFill>
                  <a:srgbClr val="1C1C2E"/>
                </a:solidFill>
                <a:latin typeface="Calibri"/>
              </a:rPr>
              <a:t>e?</a:t>
            </a:r>
            <a:r>
              <a:rPr sz="1400" b="1" i="0" dirty="0">
                <a:solidFill>
                  <a:srgbClr val="1C1C2E"/>
                </a:solidFill>
                <a:latin typeface="Calibri"/>
              </a:rPr>
              <a:t> rates?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594" y="1399032"/>
            <a:ext cx="5303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50.7%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" y="1700784"/>
            <a:ext cx="23317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Tennessee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7158" y="1700784"/>
            <a:ext cx="5303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9331" y="2304287"/>
            <a:ext cx="53035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46.4%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" y="4114799"/>
            <a:ext cx="23317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Arkansas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23622" y="4242396"/>
            <a:ext cx="4523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top 10 states are Southern. </a:t>
            </a:r>
            <a:endParaRPr lang="en-US" sz="1400" dirty="0">
              <a:solidFill>
                <a:srgbClr val="4B2D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Iowa 27.7%  ·  Minnesota 28.9%  ·  Maine 30.0%</a:t>
            </a:r>
            <a:r>
              <a:rPr lang="en-US"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sz="1400" dirty="0">
              <a:solidFill>
                <a:srgbClr val="4B2D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29200" y="845713"/>
            <a:ext cx="4315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C1C2E"/>
                </a:solidFill>
                <a:latin typeface="Calibri"/>
              </a:rPr>
              <a:t>Do rates differ between the 50–64 and 65+ age groups?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1130737"/>
            <a:ext cx="4315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 dirty="0">
                <a:solidFill>
                  <a:srgbClr val="1C1C2E"/>
                </a:solidFill>
                <a:latin typeface="Calibri"/>
              </a:rPr>
              <a:t>RQ2: Average Cognitive Decline by Age Group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9552" y="1689628"/>
            <a:ext cx="1051560" cy="1693651"/>
          </a:xfrm>
          <a:prstGeom prst="rect">
            <a:avLst/>
          </a:prstGeom>
          <a:solidFill>
            <a:srgbClr val="41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59552" y="137873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172C4"/>
                </a:solidFill>
                <a:latin typeface="Calibri"/>
              </a:rPr>
              <a:t>44.1%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9552" y="34290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Ages 50–64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2234976"/>
            <a:ext cx="1051560" cy="1148303"/>
          </a:xfrm>
          <a:prstGeom prst="rect">
            <a:avLst/>
          </a:prstGeom>
          <a:solidFill>
            <a:srgbClr val="E87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0" y="1924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222"/>
                </a:solidFill>
                <a:latin typeface="Calibri"/>
              </a:rPr>
              <a:t>29.9%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342900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Ages 65+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3383280"/>
            <a:ext cx="2743200" cy="27432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376672" y="3383280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38928" y="3273552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2E"/>
                </a:solidFill>
                <a:latin typeface="Calibr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76672" y="2999232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63490" y="2889504"/>
            <a:ext cx="313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1C1C2E"/>
                </a:solidFill>
                <a:latin typeface="Calibri"/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76672" y="2615184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36058" y="2505456"/>
            <a:ext cx="340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1C1C2E"/>
                </a:solidFill>
                <a:latin typeface="Calibri"/>
              </a:rPr>
              <a:t>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76672" y="2231136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3490" y="2121408"/>
            <a:ext cx="313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 dirty="0">
                <a:solidFill>
                  <a:srgbClr val="1C1C2E"/>
                </a:solidFill>
                <a:latin typeface="Calibri"/>
              </a:rPr>
              <a:t>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76672" y="1847088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63490" y="1737360"/>
            <a:ext cx="313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2E"/>
                </a:solidFill>
                <a:latin typeface="Calibri"/>
              </a:rPr>
              <a:t>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76672" y="1463040"/>
            <a:ext cx="91440" cy="1828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63490" y="1353312"/>
            <a:ext cx="313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2E"/>
                </a:solidFill>
                <a:latin typeface="Calibri"/>
              </a:rPr>
              <a:t>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2683" y="3712450"/>
            <a:ext cx="4547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Surprising: 50–64 group reports HIGHER rates than 65+.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-23622" y="4860921"/>
            <a:ext cx="5059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C02DD54A-9D26-464E-A0DB-D07462820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7" b="1538"/>
          <a:stretch/>
        </p:blipFill>
        <p:spPr>
          <a:xfrm>
            <a:off x="231134" y="1121418"/>
            <a:ext cx="4157106" cy="3196624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85A86593-C7B9-4165-A668-EEFF46490A44}"/>
              </a:ext>
            </a:extLst>
          </p:cNvPr>
          <p:cNvSpPr/>
          <p:nvPr/>
        </p:nvSpPr>
        <p:spPr>
          <a:xfrm>
            <a:off x="53489" y="835608"/>
            <a:ext cx="575160" cy="448055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RQ1</a:t>
            </a:r>
            <a:endParaRPr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0BEBC08-B402-46B5-8B37-D321900328B6}"/>
              </a:ext>
            </a:extLst>
          </p:cNvPr>
          <p:cNvSpPr/>
          <p:nvPr/>
        </p:nvSpPr>
        <p:spPr>
          <a:xfrm>
            <a:off x="4522683" y="842042"/>
            <a:ext cx="575709" cy="486744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RQ2</a:t>
            </a:r>
            <a:endParaRPr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48E852-6748-4146-91D8-AFAB994C51ED}"/>
              </a:ext>
            </a:extLst>
          </p:cNvPr>
          <p:cNvSpPr txBox="1"/>
          <p:nvPr/>
        </p:nvSpPr>
        <p:spPr>
          <a:xfrm>
            <a:off x="4522683" y="3974533"/>
            <a:ext cx="45637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Midlife adults may report subjective memory concerns earlier. </a:t>
            </a:r>
          </a:p>
          <a:p>
            <a:r>
              <a:rPr lang="en-US" sz="1400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mean 65+ have less decline clinically.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8D47FF4-BF08-423B-9238-D472521D1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15306"/>
            <a:ext cx="1908219" cy="389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34640" y="114012"/>
            <a:ext cx="5990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r>
              <a:rPr lang="en-US"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RQ9: Health &amp; Behavioral Risk Factor Correlations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94464" y="73693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 dirty="0"/>
              <a:t>Pearson r with cognitive decline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2259" y="762070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7A9A"/>
                </a:solidFill>
              </a:rPr>
              <a:t>← Negative 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73693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A7A9A"/>
                </a:solidFill>
              </a:rPr>
              <a:t>Positive association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234440"/>
            <a:ext cx="2779776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24358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Poor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243584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0.80***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673352"/>
            <a:ext cx="2397556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168249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Disability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682496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0.69***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112263"/>
            <a:ext cx="2328062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12140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Unhealthy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21408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0.67***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551176"/>
            <a:ext cx="2328062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25603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Mental Distress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60320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0.67***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990087"/>
            <a:ext cx="2189073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2999232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Physical Inactivity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99923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0.63***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429000"/>
            <a:ext cx="1737360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3438144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Smoking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438144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0.50***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867911"/>
            <a:ext cx="1459382" cy="292608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3877055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Depression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877055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r = 0.42* 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76932" y="4306824"/>
            <a:ext cx="1772107" cy="292608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315968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Binge Drinking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315968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A9CE"/>
                </a:solidFill>
              </a:rPr>
              <a:t>r = −0.51***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0751" y="1143000"/>
            <a:ext cx="45719" cy="3616452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47872" y="114300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A9A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44" y="4570381"/>
            <a:ext cx="8595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A7A9A"/>
                </a:solidFill>
              </a:rPr>
              <a:t>*** p&lt;0.001  * p&lt;0.05  ·  Bonferroni correction applied  ·  N=51 states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3B9C644-AC76-45A5-B16C-FCDB96153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B35C65F-546F-4C28-9694-22C62873918C}"/>
              </a:ext>
            </a:extLst>
          </p:cNvPr>
          <p:cNvSpPr txBox="1"/>
          <p:nvPr/>
        </p:nvSpPr>
        <p:spPr>
          <a:xfrm>
            <a:off x="137160" y="4879374"/>
            <a:ext cx="5059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4600" y="137160"/>
            <a:ext cx="6446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Socioeconomic Factors (Census ACS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030" y="828552"/>
            <a:ext cx="502920" cy="25044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R10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554949" y="770514"/>
            <a:ext cx="4598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C1C2E"/>
                </a:solidFill>
                <a:latin typeface="Calibri"/>
              </a:rPr>
              <a:t>Does median household income relate to cognitive decline?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1286" y="802329"/>
            <a:ext cx="374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C1C2E"/>
                </a:solidFill>
                <a:latin typeface="Calibri"/>
              </a:rPr>
              <a:t>Does higher education reduce cognitive decline?</a:t>
            </a:r>
          </a:p>
        </p:txBody>
      </p:sp>
      <p:pic>
        <p:nvPicPr>
          <p:cNvPr id="12" name="Picture 11" descr="rq10_11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33856"/>
            <a:ext cx="8869680" cy="3127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030" y="4255253"/>
            <a:ext cx="5768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C1C2E"/>
                </a:solidFill>
                <a:latin typeface="Calibri"/>
              </a:rPr>
              <a:t>• r = </a:t>
            </a:r>
            <a:r>
              <a:rPr lang="en-US" sz="1400" b="1" i="0" dirty="0">
                <a:solidFill>
                  <a:srgbClr val="1C1C2E"/>
                </a:solidFill>
                <a:latin typeface="Calibri"/>
              </a:rPr>
              <a:t>-</a:t>
            </a:r>
            <a:r>
              <a:rPr sz="1400" b="1" i="0" dirty="0">
                <a:solidFill>
                  <a:srgbClr val="1C1C2E"/>
                </a:solidFill>
                <a:latin typeface="Calibri"/>
              </a:rPr>
              <a:t>0.49  </a:t>
            </a:r>
            <a:r>
              <a:rPr sz="1400" b="0" i="0" dirty="0">
                <a:solidFill>
                  <a:srgbClr val="1C1C2E"/>
                </a:solidFill>
                <a:latin typeface="Calibri"/>
              </a:rPr>
              <a:t>·  Moderate negative </a:t>
            </a:r>
            <a:r>
              <a:rPr lang="en-US" sz="1400" b="0" i="0" dirty="0">
                <a:solidFill>
                  <a:srgbClr val="1C1C2E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1C1C2E"/>
                </a:solidFill>
                <a:latin typeface="Calibri"/>
              </a:rPr>
              <a:t> higher income → lower cognitive decline.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30" y="4496424"/>
            <a:ext cx="4297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  <a:latin typeface="Calibri"/>
              </a:rPr>
              <a:t>• </a:t>
            </a:r>
            <a:r>
              <a:rPr sz="1400" b="1" i="0" dirty="0">
                <a:solidFill>
                  <a:srgbClr val="1C1C2E"/>
                </a:solidFill>
                <a:latin typeface="Calibri"/>
              </a:rPr>
              <a:t>r = −0.34  </a:t>
            </a:r>
            <a:r>
              <a:rPr sz="1400" b="0" i="0" dirty="0">
                <a:solidFill>
                  <a:srgbClr val="1C1C2E"/>
                </a:solidFill>
                <a:latin typeface="Calibri"/>
              </a:rPr>
              <a:t>·  Weak negative </a:t>
            </a:r>
            <a:r>
              <a:rPr lang="en-US" sz="1400" b="0" i="0" dirty="0">
                <a:solidFill>
                  <a:srgbClr val="1C1C2E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1C1C2E"/>
                </a:solidFill>
                <a:latin typeface="Calibri"/>
              </a:rPr>
              <a:t> more education → lower cognitive decline.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" y="4818888"/>
            <a:ext cx="487824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078122-C8B8-464D-9278-55DE51401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C9992E0-4BF4-451B-B26F-34836F997E4E}"/>
              </a:ext>
            </a:extLst>
          </p:cNvPr>
          <p:cNvSpPr/>
          <p:nvPr/>
        </p:nvSpPr>
        <p:spPr>
          <a:xfrm>
            <a:off x="5061128" y="821805"/>
            <a:ext cx="502920" cy="25044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R11</a:t>
            </a:r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CE2735-9938-4DD6-9E53-C4710A8B6B2F}"/>
              </a:ext>
            </a:extLst>
          </p:cNvPr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0C9D3-3685-4B26-A31E-1CC17C0053E9}"/>
              </a:ext>
            </a:extLst>
          </p:cNvPr>
          <p:cNvSpPr txBox="1"/>
          <p:nvPr/>
        </p:nvSpPr>
        <p:spPr>
          <a:xfrm>
            <a:off x="58083" y="4842638"/>
            <a:ext cx="50596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F1A3E-F367-4AC4-BA52-0AC093725EBD}"/>
              </a:ext>
            </a:extLst>
          </p:cNvPr>
          <p:cNvSpPr/>
          <p:nvPr/>
        </p:nvSpPr>
        <p:spPr>
          <a:xfrm>
            <a:off x="0" y="8632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8F1172-528C-4910-AAF1-EDEFAC2D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7" y="1602273"/>
            <a:ext cx="3454955" cy="2297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A38D02-7D85-4AD8-A300-74039499F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297721"/>
            <a:ext cx="1908219" cy="3893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50B88-0CF4-4E9E-A4A6-2554FB839364}"/>
              </a:ext>
            </a:extLst>
          </p:cNvPr>
          <p:cNvSpPr txBox="1"/>
          <p:nvPr/>
        </p:nvSpPr>
        <p:spPr>
          <a:xfrm>
            <a:off x="3273840" y="278319"/>
            <a:ext cx="5990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Cognitive Decline Rate by State (2015-2022)</a:t>
            </a:r>
            <a:endParaRPr sz="2000" b="1" dirty="0">
              <a:solidFill>
                <a:srgbClr val="7A7A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C6A8F7-2978-4AC2-ABC0-8D0A62E74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400" y="1602273"/>
            <a:ext cx="1093463" cy="2136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80CC4-76B4-4693-A54E-8A124D7895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304" r="41648"/>
          <a:stretch/>
        </p:blipFill>
        <p:spPr>
          <a:xfrm>
            <a:off x="4778350" y="1602273"/>
            <a:ext cx="3671129" cy="256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96CEBE-D836-446A-B98A-166562BF6D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165" t="9304"/>
          <a:stretch/>
        </p:blipFill>
        <p:spPr>
          <a:xfrm>
            <a:off x="8533299" y="1471310"/>
            <a:ext cx="531189" cy="220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9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61303" y="67461"/>
            <a:ext cx="4108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RQ12: Multiple 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377" y="717354"/>
            <a:ext cx="8074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/>
              <a:t>Which combination of factors best predicts cognitive decline?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713231"/>
            <a:ext cx="589680" cy="319151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R12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20040" y="1095720"/>
            <a:ext cx="2926080" cy="2011680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187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R² = 0.742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1867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BBF0"/>
                </a:solidFill>
              </a:rPr>
              <a:t>74.2% of variation in
cognitive decline explained
by the full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095720"/>
            <a:ext cx="5394960" cy="197704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107810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4B2D82"/>
                </a:solidFill>
              </a:rPr>
              <a:t>Model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325880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Predictors: 8 health/behavioral + income + education (standardized)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636776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N = 51 states  ·  OLS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947672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All predictors jointly significant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258568"/>
            <a:ext cx="5166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Note: High multicollinearity (Poor Health ↔ Unhealthy Days r=0.94) </a:t>
            </a:r>
            <a:r>
              <a:rPr lang="en-US" sz="1400" b="0" i="0" dirty="0">
                <a:solidFill>
                  <a:srgbClr val="1C1C2E"/>
                </a:solidFill>
              </a:rPr>
              <a:t>- </a:t>
            </a:r>
            <a:r>
              <a:rPr sz="1400" b="0" i="0" dirty="0">
                <a:solidFill>
                  <a:srgbClr val="1C1C2E"/>
                </a:solidFill>
              </a:rPr>
              <a:t> individual coefficients unstable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2721163"/>
            <a:ext cx="5166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→ Use correlation results for individual relationships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86532"/>
            <a:ext cx="8595360" cy="1188720"/>
          </a:xfrm>
          <a:prstGeom prst="rect">
            <a:avLst/>
          </a:prstGeom>
          <a:solidFill>
            <a:srgbClr val="F4F2F9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262218"/>
            <a:ext cx="836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550858"/>
            <a:ext cx="8366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Health and behavioral factors TOGETHER explain 74% of state-level variation in cognitive decline. No single factor dominates </a:t>
            </a:r>
            <a:r>
              <a:rPr lang="en-US" sz="1400" b="0" i="0" dirty="0">
                <a:solidFill>
                  <a:srgbClr val="1C1C2E"/>
                </a:solidFill>
              </a:rPr>
              <a:t>-</a:t>
            </a:r>
            <a:r>
              <a:rPr sz="1400" b="0" i="0" dirty="0">
                <a:solidFill>
                  <a:srgbClr val="1C1C2E"/>
                </a:solidFill>
              </a:rPr>
              <a:t> the burden is multifactorial. Poor health status and disability are the most consistently strong individual predictors based on bivariate correlations.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34E03-F554-4212-B750-D6C5E6C27012}"/>
              </a:ext>
            </a:extLst>
          </p:cNvPr>
          <p:cNvSpPr txBox="1"/>
          <p:nvPr/>
        </p:nvSpPr>
        <p:spPr>
          <a:xfrm>
            <a:off x="-126958" y="4818888"/>
            <a:ext cx="526573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DC99E6C-1D38-4610-982D-C19E9AE60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28032" y="11145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RQ13: Risk Factor Trends 2015-2022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 w="12700">
            <a:solidFill>
              <a:srgbClr val="00A9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24080" cy="274320"/>
          </a:xfrm>
          <a:prstGeom prst="rect">
            <a:avLst/>
          </a:prstGeom>
          <a:solidFill>
            <a:srgbClr val="4B2D82"/>
          </a:solidFill>
          <a:ln w="12700">
            <a:solidFill>
              <a:srgbClr val="4B2D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42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6812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/>
              <a:t>Are conditions getting better or worse over the years?</a:t>
            </a:r>
          </a:p>
        </p:txBody>
      </p:sp>
      <p:sp>
        <p:nvSpPr>
          <p:cNvPr id="9" name="Text 6"/>
          <p:cNvSpPr/>
          <p:nvPr/>
        </p:nvSpPr>
        <p:spPr>
          <a:xfrm>
            <a:off x="5715000" y="10058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 2022 Summary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1280160"/>
            <a:ext cx="3246120" cy="256032"/>
          </a:xfrm>
          <a:prstGeom prst="rect">
            <a:avLst/>
          </a:prstGeom>
          <a:solidFill>
            <a:srgbClr val="4B2D82"/>
          </a:solidFill>
          <a:ln w="12700">
            <a:solidFill>
              <a:srgbClr val="4B2D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788152" y="12984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0" y="1298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89520" y="1298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92440" y="12984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15000" y="1554480"/>
            <a:ext cx="324612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788152" y="16093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32320" y="16093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589520" y="16093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110728" y="16184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DEAEA"/>
          </a:solidFill>
          <a:ln w="12700">
            <a:solidFill>
              <a:srgbClr val="B830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110728" y="16184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 pp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715000" y="1897380"/>
            <a:ext cx="3246120" cy="342900"/>
          </a:xfrm>
          <a:prstGeom prst="rect">
            <a:avLst/>
          </a:prstGeom>
          <a:solidFill>
            <a:srgbClr val="F4F2F9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788152" y="19522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Distress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32320" y="19522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89520" y="19522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0728" y="19613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DEAEA"/>
          </a:solidFill>
          <a:ln w="12700">
            <a:solidFill>
              <a:srgbClr val="B830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110728" y="19613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 pp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715000" y="2240280"/>
            <a:ext cx="324612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788152" y="22951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Binge Drinking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32320" y="22951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589520" y="22951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110728" y="23042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4F2F9"/>
          </a:solidFill>
          <a:ln w="12700">
            <a:solidFill>
              <a:srgbClr val="7A7A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110728" y="23042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 pp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15000" y="2583180"/>
            <a:ext cx="3246120" cy="342900"/>
          </a:xfrm>
          <a:prstGeom prst="rect">
            <a:avLst/>
          </a:prstGeom>
          <a:solidFill>
            <a:srgbClr val="F4F2F9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788152" y="26380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Days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132320" y="26380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589520" y="26380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110728" y="26471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4F2F9"/>
          </a:solidFill>
          <a:ln w="12700">
            <a:solidFill>
              <a:srgbClr val="7A7A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8110728" y="26471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pp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715000" y="2926080"/>
            <a:ext cx="324612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788152" y="29809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Health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132320" y="29809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589520" y="29809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110728" y="29900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4F2F9"/>
          </a:solidFill>
          <a:ln w="12700">
            <a:solidFill>
              <a:srgbClr val="7A7A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8110728" y="29900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 pp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715000" y="3268980"/>
            <a:ext cx="3246120" cy="342900"/>
          </a:xfrm>
          <a:prstGeom prst="rect">
            <a:avLst/>
          </a:prstGeom>
          <a:solidFill>
            <a:srgbClr val="F4F2F9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788152" y="33238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132320" y="33238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589520" y="33238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110728" y="33329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F4F2F9"/>
          </a:solidFill>
          <a:ln w="12700">
            <a:solidFill>
              <a:srgbClr val="7A7A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8110728" y="33329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 pp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715000" y="3611880"/>
            <a:ext cx="324612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5788152" y="36667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132320" y="36667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589520" y="36667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110728" y="36758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E6F4ED"/>
          </a:solidFill>
          <a:ln w="12700">
            <a:solidFill>
              <a:srgbClr val="2A7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3"/>
          <p:cNvSpPr/>
          <p:nvPr/>
        </p:nvSpPr>
        <p:spPr>
          <a:xfrm>
            <a:off x="8110728" y="36758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 pp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715000" y="3954780"/>
            <a:ext cx="3246120" cy="342900"/>
          </a:xfrm>
          <a:prstGeom prst="rect">
            <a:avLst/>
          </a:prstGeom>
          <a:solidFill>
            <a:srgbClr val="F4F2F9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788152" y="4009644"/>
            <a:ext cx="1325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132320" y="40096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589520" y="4009644"/>
            <a:ext cx="43891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8110728" y="4018788"/>
            <a:ext cx="749808" cy="196596"/>
          </a:xfrm>
          <a:prstGeom prst="roundRect">
            <a:avLst>
              <a:gd name="adj" fmla="val 23256"/>
            </a:avLst>
          </a:prstGeom>
          <a:solidFill>
            <a:srgbClr val="E6F4ED"/>
          </a:solidFill>
          <a:ln w="12700">
            <a:solidFill>
              <a:srgbClr val="2A7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59"/>
          <p:cNvSpPr/>
          <p:nvPr/>
        </p:nvSpPr>
        <p:spPr>
          <a:xfrm>
            <a:off x="8110728" y="4018788"/>
            <a:ext cx="74980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−2.2 pp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01168" y="4357116"/>
            <a:ext cx="8686800" cy="379476"/>
          </a:xfrm>
          <a:prstGeom prst="rect">
            <a:avLst/>
          </a:prstGeom>
          <a:solidFill>
            <a:srgbClr val="F4F2F9"/>
          </a:solidFill>
          <a:ln w="12700">
            <a:solidFill>
              <a:srgbClr val="F4F2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1"/>
          <p:cNvSpPr/>
          <p:nvPr/>
        </p:nvSpPr>
        <p:spPr>
          <a:xfrm>
            <a:off x="256032" y="4389120"/>
            <a:ext cx="8830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factor changed dramatically. Most remained persistently elevated; the sustained burden, not a worsening trend, drives concern.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0" y="4782312"/>
            <a:ext cx="9144000" cy="374904"/>
          </a:xfrm>
          <a:prstGeom prst="rect">
            <a:avLst/>
          </a:prstGeom>
          <a:solidFill>
            <a:srgbClr val="4B2D82"/>
          </a:solidFill>
          <a:ln w="12700">
            <a:solidFill>
              <a:srgbClr val="4B2D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3"/>
          <p:cNvSpPr/>
          <p:nvPr/>
        </p:nvSpPr>
        <p:spPr>
          <a:xfrm>
            <a:off x="73152" y="48188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CB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Decline Risk Factors in U.S. Older Adults  ·  DATA 205 · CRN 32036 · Capstone · Spring 2026  ·  Zvar Murphy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217729" y="4150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area = margin of error</a:t>
            </a:r>
            <a:endParaRPr lang="en-US" sz="75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1AFF79C-178B-4A24-80AC-8A2B8E4EC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59257"/>
            <a:ext cx="1908219" cy="38938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D5A472F-683F-4816-B3FC-188A68BEB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2145"/>
            <a:ext cx="575159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9713" y="104989"/>
            <a:ext cx="4841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Product: Interactive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8580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A7A9A"/>
                </a:solidFill>
              </a:rPr>
              <a:t>CDC BRFSS data + state resources in one shareable 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2" y="1001531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2" y="1001531"/>
            <a:ext cx="4160520" cy="34747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70" y="1028963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70" y="1413011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Interactive U.S. choropleth map (Plotly.js)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70" y="1669043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10 switchable variables via dropdown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70" y="1925075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Click/select any state → detailed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70" y="2181107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Real CDC BRFSS data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all 51 jurisdictions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70" y="2437139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Risk factor bar chart vs. national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8" y="2685694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State-specific resources for older adults: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62" y="2941726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1C2E"/>
                </a:solidFill>
              </a:rPr>
              <a:t>   </a:t>
            </a:r>
            <a:r>
              <a:rPr sz="1400" b="0" i="0" dirty="0">
                <a:solidFill>
                  <a:srgbClr val="1C1C2E"/>
                </a:solidFill>
              </a:rPr>
              <a:t>· Alzheimer's Association chapter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62" y="3197758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1C2E"/>
                </a:solidFill>
              </a:rPr>
              <a:t>   · </a:t>
            </a:r>
            <a:r>
              <a:rPr sz="1400" b="0" i="0" dirty="0">
                <a:solidFill>
                  <a:srgbClr val="1C1C2E"/>
                </a:solidFill>
              </a:rPr>
              <a:t>State health/aging department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62" y="3453790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1C2E"/>
                </a:solidFill>
              </a:rPr>
              <a:t>   · </a:t>
            </a:r>
            <a:r>
              <a:rPr sz="1400" b="0" i="0" dirty="0">
                <a:solidFill>
                  <a:srgbClr val="1C1C2E"/>
                </a:solidFill>
              </a:rPr>
              <a:t>State aging helpline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3462" y="3709822"/>
            <a:ext cx="395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1C2E"/>
                </a:solidFill>
              </a:rPr>
              <a:t>   · </a:t>
            </a:r>
            <a:r>
              <a:rPr sz="1400" b="0" i="0" dirty="0">
                <a:solidFill>
                  <a:srgbClr val="1C1C2E"/>
                </a:solidFill>
              </a:rPr>
              <a:t>Medicaid HCBS waivers &amp; benefit programs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8" y="3949465"/>
            <a:ext cx="3950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✦ National resources: Medicare, NIA, ACL,</a:t>
            </a:r>
            <a:r>
              <a:rPr lang="en-US" sz="1400" b="0" i="0" dirty="0">
                <a:solidFill>
                  <a:srgbClr val="1C1C2E"/>
                </a:solidFill>
              </a:rPr>
              <a:t>       	                                  BenefitsCheckUp</a:t>
            </a:r>
            <a:r>
              <a:rPr sz="1400" b="0" i="0" dirty="0">
                <a:solidFill>
                  <a:srgbClr val="1C1C2E"/>
                </a:solidFill>
              </a:rPr>
              <a:t> </a:t>
            </a:r>
            <a:r>
              <a:rPr lang="en-US" sz="1400" dirty="0">
                <a:solidFill>
                  <a:srgbClr val="1C1C2E"/>
                </a:solidFill>
              </a:rPr>
              <a:t>           </a:t>
            </a:r>
            <a:endParaRPr sz="1400" b="0" i="0" dirty="0">
              <a:solidFill>
                <a:srgbClr val="1C1C2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26C0E9-3A2F-46DB-BE2A-1960C1AC9F2F}"/>
              </a:ext>
            </a:extLst>
          </p:cNvPr>
          <p:cNvSpPr txBox="1"/>
          <p:nvPr/>
        </p:nvSpPr>
        <p:spPr>
          <a:xfrm>
            <a:off x="-126958" y="4818888"/>
            <a:ext cx="526573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178B6BB-7977-4A79-AA72-8A6A4B3DD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97736"/>
            <a:ext cx="1908219" cy="3893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B17811A-EEB3-439A-A0B0-AFFB98B2A9F6}"/>
              </a:ext>
            </a:extLst>
          </p:cNvPr>
          <p:cNvSpPr/>
          <p:nvPr/>
        </p:nvSpPr>
        <p:spPr>
          <a:xfrm>
            <a:off x="320040" y="1028963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hlinkClick r:id="rId4"/>
              </a:rPr>
              <a:t>https://zeemurphy.github.io/Data_205_Capstone_Project/analysis/dashboard/cognitive_decline</a:t>
            </a:r>
            <a:r>
              <a:rPr lang="en-US" sz="1400" dirty="0">
                <a:hlinkClick r:id="rId4"/>
              </a:rPr>
              <a:t>_das</a:t>
            </a:r>
            <a:endParaRPr lang="en-US" sz="1400" dirty="0"/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Link in the project README on GitHub</a:t>
            </a:r>
          </a:p>
          <a:p>
            <a:endParaRPr lang="en-US" sz="1400" dirty="0"/>
          </a:p>
          <a:p>
            <a:r>
              <a:rPr lang="en-US" sz="1400" dirty="0">
                <a:hlinkClick r:id="rId5"/>
              </a:rPr>
              <a:t>https://github.com/ZeeMurphy/Data_205Capstone_Project</a:t>
            </a:r>
            <a:endParaRPr lang="en-US" sz="1400" dirty="0"/>
          </a:p>
          <a:p>
            <a:pPr algn="ctr"/>
            <a:r>
              <a:rPr lang="en-US" sz="1400" dirty="0"/>
              <a:t>hboard.html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A9CD2B-D7E0-45F6-83F5-1C3C2ABAA22A}"/>
              </a:ext>
            </a:extLst>
          </p:cNvPr>
          <p:cNvSpPr/>
          <p:nvPr/>
        </p:nvSpPr>
        <p:spPr>
          <a:xfrm>
            <a:off x="320040" y="1028963"/>
            <a:ext cx="4160520" cy="34747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Interactive Dashboard</a:t>
            </a:r>
            <a:endParaRPr sz="1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01164" y="31445"/>
            <a:ext cx="3178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10122" y="663047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/>
              <a:t>What the data tells us about cognitive decline across U.S. states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4B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960120"/>
            <a:ext cx="91440" cy="107899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033272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Geography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325880"/>
            <a:ext cx="3913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Mississippi (50.7%) vs Iowa (27.7%) 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a 23-point gap. Southern states bear the heaviest burden.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960120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59" y="960120"/>
            <a:ext cx="91440" cy="1078992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1" y="1033272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A9CE"/>
                </a:solidFill>
              </a:rPr>
              <a:t>Age surprise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1269060"/>
            <a:ext cx="3913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Adults 45</a:t>
            </a:r>
            <a:r>
              <a:rPr lang="en-US" sz="1400" b="0" i="0" dirty="0">
                <a:solidFill>
                  <a:srgbClr val="1C1C2E"/>
                </a:solidFill>
              </a:rPr>
              <a:t>- </a:t>
            </a:r>
            <a:r>
              <a:rPr sz="1400" b="0" i="0" dirty="0">
                <a:solidFill>
                  <a:srgbClr val="1C1C2E"/>
                </a:solidFill>
              </a:rPr>
              <a:t>64 report MORE decline than 65+ (44.1% vs 29.9%, p&lt;0.001, d=3.00). Mid-life risk is underappreciated.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30552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130552"/>
            <a:ext cx="91440" cy="1078992"/>
          </a:xfrm>
          <a:prstGeom prst="rect">
            <a:avLst/>
          </a:prstGeom>
          <a:solidFill>
            <a:srgbClr val="B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2203704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B83030"/>
                </a:solidFill>
              </a:rPr>
              <a:t>Self-</a:t>
            </a:r>
            <a:r>
              <a:rPr lang="en-US" sz="1400" b="1" dirty="0">
                <a:solidFill>
                  <a:srgbClr val="B83030"/>
                </a:solidFill>
              </a:rPr>
              <a:t>reported p</a:t>
            </a:r>
            <a:r>
              <a:rPr sz="1400" b="1" i="0" dirty="0">
                <a:solidFill>
                  <a:srgbClr val="B83030"/>
                </a:solidFill>
              </a:rPr>
              <a:t>oor health is the #1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2496312"/>
            <a:ext cx="3913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r = 0.80 with cognitive decline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the strongest individual correlate, followed by disability (r=0.69) and mental distress (r=0.67).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2130552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9159" y="2130552"/>
            <a:ext cx="91440" cy="1078992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73751" y="2203704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A7A50"/>
                </a:solidFill>
              </a:rPr>
              <a:t>SES is protective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1" y="2496312"/>
            <a:ext cx="3913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Higher income (r=−0.49) and education (r=−0.45) both associated with lower cognitive decline rates.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00984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300984"/>
            <a:ext cx="91440" cy="1078992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374136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E86A00"/>
                </a:solidFill>
              </a:rPr>
              <a:t>Risk factors are </a:t>
            </a:r>
            <a:r>
              <a:rPr lang="en-US" sz="1400" b="1" i="0" dirty="0">
                <a:solidFill>
                  <a:srgbClr val="E86A00"/>
                </a:solidFill>
              </a:rPr>
              <a:t>not improving</a:t>
            </a:r>
            <a:endParaRPr sz="1400" b="1" i="0" dirty="0">
              <a:solidFill>
                <a:srgbClr val="E86A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0624" y="3605910"/>
            <a:ext cx="3913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7 of 8 risk factors trending upward 2015–2022 nationally. Only smoking is declining. Future cognitive decline burden may increase.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3300984"/>
            <a:ext cx="420624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5C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09159" y="3300984"/>
            <a:ext cx="91440" cy="1078992"/>
          </a:xfrm>
          <a:prstGeom prst="rect">
            <a:avLst/>
          </a:prstGeom>
          <a:solidFill>
            <a:srgbClr val="5C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73751" y="3374136"/>
            <a:ext cx="3913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5C3D9E"/>
                </a:solidFill>
              </a:rPr>
              <a:t>Strong joint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1" y="3666744"/>
            <a:ext cx="3913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C1C2E"/>
                </a:solidFill>
              </a:rPr>
              <a:t>R²=0.742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health, behavioral &amp; SES factors together explain 74% of state-level variation in cognitive decline.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A06FD5-FA40-4DF5-BEB4-0CF800E29B50}"/>
              </a:ext>
            </a:extLst>
          </p:cNvPr>
          <p:cNvSpPr txBox="1"/>
          <p:nvPr/>
        </p:nvSpPr>
        <p:spPr>
          <a:xfrm>
            <a:off x="-126958" y="4818888"/>
            <a:ext cx="526573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61F18F-5537-467C-856E-ACD54AF45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04976"/>
            <a:ext cx="1908219" cy="389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828800" cy="384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38777" y="119985"/>
            <a:ext cx="3765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A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1257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CDC BRFSS </a:t>
            </a:r>
            <a:r>
              <a:rPr lang="en-US" sz="1400" b="0" i="0" dirty="0">
                <a:solidFill>
                  <a:srgbClr val="1C1C2E"/>
                </a:solidFill>
              </a:rPr>
              <a:t>:</a:t>
            </a:r>
            <a:r>
              <a:rPr sz="1400" b="0" i="0" dirty="0">
                <a:solidFill>
                  <a:srgbClr val="1C1C2E"/>
                </a:solidFill>
              </a:rPr>
              <a:t> Alzheimer's Disease and Healthy Aging Data (2015–2022). data.cdc.gov/Healthy-Aging/hfr9-rurv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59469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U.S. Census Bureau</a:t>
            </a:r>
            <a:r>
              <a:rPr lang="en-US" sz="1400" b="0" i="0" dirty="0">
                <a:solidFill>
                  <a:srgbClr val="1C1C2E"/>
                </a:solidFill>
              </a:rPr>
              <a:t>: </a:t>
            </a:r>
            <a:r>
              <a:rPr sz="1400" b="0" i="0" dirty="0">
                <a:solidFill>
                  <a:srgbClr val="1C1C2E"/>
                </a:solidFill>
              </a:rPr>
              <a:t>ACS 5-Year Estimates (2018–2022). api.census.gov/data/2022/acs/acs5/profile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07075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Academic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34812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 err="1">
                <a:solidFill>
                  <a:srgbClr val="1C1C2E"/>
                </a:solidFill>
              </a:rPr>
              <a:t>Heymann</a:t>
            </a:r>
            <a:r>
              <a:rPr sz="1400" b="0" i="0" dirty="0">
                <a:solidFill>
                  <a:srgbClr val="1C1C2E"/>
                </a:solidFill>
              </a:rPr>
              <a:t> D, et al. The association between alcohol use and the progression of Alzheimer's disease. Current Alzheimer Research. 2016;13(12):1356–1362.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82261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CDC Healthy Aging Program. Subjective Cognitive Decline </a:t>
            </a:r>
            <a:r>
              <a:rPr lang="en-US" sz="1400" b="0" i="0" dirty="0">
                <a:solidFill>
                  <a:srgbClr val="1C1C2E"/>
                </a:solidFill>
              </a:rPr>
              <a:t>,</a:t>
            </a:r>
            <a:r>
              <a:rPr sz="1400" b="0" i="0" dirty="0">
                <a:solidFill>
                  <a:srgbClr val="1C1C2E"/>
                </a:solidFill>
              </a:rPr>
              <a:t> A Public Health Issue. 2019.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516487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Alzheimer's Association. 2024 Alzheimer's Disease Facts and Figures. alz.org/</a:t>
            </a:r>
            <a:r>
              <a:rPr sz="1400" b="0" i="0" dirty="0" err="1">
                <a:solidFill>
                  <a:srgbClr val="1C1C2E"/>
                </a:solidFill>
              </a:rPr>
              <a:t>alzheimers</a:t>
            </a:r>
            <a:r>
              <a:rPr sz="1400" b="0" i="0" dirty="0">
                <a:solidFill>
                  <a:srgbClr val="1C1C2E"/>
                </a:solidFill>
              </a:rPr>
              <a:t>-dementia/facts-figures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25179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Tools &amp; 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04682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Python · Pandas · NumPy · Matplotlib · Seaborn · Plotly · Scikit-learn · SciPy · CDC SODA2 API · U.S. Census ACS API · HTML/CSS/JS · GitHub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209954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B2D82"/>
                </a:solidFill>
              </a:rPr>
              <a:t>Acknowledgements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465391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1C1C2E"/>
                </a:solidFill>
              </a:rPr>
              <a:t>Prof. Perine</a:t>
            </a:r>
            <a:r>
              <a:rPr lang="en-US" sz="1400" b="0" i="0" dirty="0">
                <a:solidFill>
                  <a:srgbClr val="1C1C2E"/>
                </a:solidFill>
              </a:rPr>
              <a:t>, </a:t>
            </a:r>
            <a:r>
              <a:rPr sz="1400" b="0" i="0" dirty="0">
                <a:solidFill>
                  <a:srgbClr val="1C1C2E"/>
                </a:solidFill>
              </a:rPr>
              <a:t> DATA 205 Capstone · Montgomery College · Spring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CD72E5-9B48-433F-B365-63A7385FA299}"/>
              </a:ext>
            </a:extLst>
          </p:cNvPr>
          <p:cNvSpPr txBox="1"/>
          <p:nvPr/>
        </p:nvSpPr>
        <p:spPr>
          <a:xfrm>
            <a:off x="-126958" y="4818888"/>
            <a:ext cx="526573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57FEB9-88D0-4852-8C04-0F7BC5389A6F}"/>
              </a:ext>
            </a:extLst>
          </p:cNvPr>
          <p:cNvSpPr txBox="1"/>
          <p:nvPr/>
        </p:nvSpPr>
        <p:spPr>
          <a:xfrm>
            <a:off x="274320" y="2944375"/>
            <a:ext cx="8412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1C1D1E"/>
                </a:solidFill>
                <a:effectLst/>
              </a:rPr>
              <a:t>Chêne</a:t>
            </a:r>
            <a:r>
              <a:rPr lang="en-US" sz="1400" b="0" i="0" dirty="0">
                <a:solidFill>
                  <a:srgbClr val="1C1D1E"/>
                </a:solidFill>
                <a:effectLst/>
              </a:rPr>
              <a:t>, G., </a:t>
            </a:r>
            <a:r>
              <a:rPr lang="en-US" sz="1400" b="0" i="0" dirty="0" err="1">
                <a:solidFill>
                  <a:srgbClr val="1C1D1E"/>
                </a:solidFill>
                <a:effectLst/>
              </a:rPr>
              <a:t>Beiser</a:t>
            </a:r>
            <a:r>
              <a:rPr lang="en-US" sz="1400" b="0" i="0" dirty="0">
                <a:solidFill>
                  <a:srgbClr val="1C1D1E"/>
                </a:solidFill>
                <a:effectLst/>
              </a:rPr>
              <a:t>, A., Au, R., </a:t>
            </a:r>
            <a:r>
              <a:rPr lang="en-US" sz="1400" b="0" i="0" dirty="0" err="1">
                <a:solidFill>
                  <a:srgbClr val="1C1D1E"/>
                </a:solidFill>
                <a:effectLst/>
              </a:rPr>
              <a:t>Preis</a:t>
            </a:r>
            <a:r>
              <a:rPr lang="en-US" sz="1400" b="0" i="0" dirty="0">
                <a:solidFill>
                  <a:srgbClr val="1C1D1E"/>
                </a:solidFill>
                <a:effectLst/>
              </a:rPr>
              <a:t>, S.R., Wolf, P.A., </a:t>
            </a:r>
            <a:r>
              <a:rPr lang="en-US" sz="1400" b="0" i="0" dirty="0" err="1">
                <a:solidFill>
                  <a:srgbClr val="1C1D1E"/>
                </a:solidFill>
                <a:effectLst/>
              </a:rPr>
              <a:t>Dufouil</a:t>
            </a:r>
            <a:r>
              <a:rPr lang="en-US" sz="1400" b="0" i="0" dirty="0">
                <a:solidFill>
                  <a:srgbClr val="1C1D1E"/>
                </a:solidFill>
                <a:effectLst/>
              </a:rPr>
              <a:t>, C. and Seshadri, S. (2015), Gender and incidence of dementia in the Framingham Heart Study from mid-adult life. Alzheimer's &amp; Dementia, 11: 310-320. </a:t>
            </a:r>
            <a:r>
              <a:rPr lang="en-US" sz="1400" b="0" i="0" u="none" strike="noStrike" dirty="0">
                <a:solidFill>
                  <a:srgbClr val="123D80"/>
                </a:solidFill>
                <a:effectLst/>
                <a:hlinkClick r:id="rId3"/>
              </a:rPr>
              <a:t>https://doi.org/10.1016/j.jalz.2013.10.005</a:t>
            </a:r>
            <a:endParaRPr sz="1400" b="0" i="0" dirty="0">
              <a:solidFill>
                <a:srgbClr val="1C1C2E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9EC673-45EF-4FFD-9FFA-6513A7696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159257"/>
            <a:ext cx="1908219" cy="389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0" y="3730752"/>
            <a:ext cx="9144000" cy="54864"/>
          </a:xfrm>
          <a:prstGeom prst="rect">
            <a:avLst/>
          </a:prstGeom>
          <a:solidFill>
            <a:srgbClr val="00A9C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284K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60604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state-year obs.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5488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r=0.54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(poor health)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0372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APIs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+ Census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github.com/ZeeMurphy/Data_205_Capstone_Project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data.cdc.gov/Healthy-Aging/hfr9-rurv  |  api.census.gov/data/2022/acs/acs5/profile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D46F76-6124-44D9-AB78-F8462F24D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0" y="338641"/>
            <a:ext cx="2949961" cy="6019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0B693E4-7BE9-42C6-A655-60F4F8068307}"/>
              </a:ext>
            </a:extLst>
          </p:cNvPr>
          <p:cNvSpPr/>
          <p:nvPr/>
        </p:nvSpPr>
        <p:spPr>
          <a:xfrm>
            <a:off x="0" y="4782312"/>
            <a:ext cx="9144000" cy="370332"/>
          </a:xfrm>
          <a:prstGeom prst="rect">
            <a:avLst/>
          </a:prstGeom>
          <a:solidFill>
            <a:srgbClr val="4B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46F3F0-89C9-4D2C-8542-4D67EDF8320B}"/>
              </a:ext>
            </a:extLst>
          </p:cNvPr>
          <p:cNvSpPr txBox="1"/>
          <p:nvPr/>
        </p:nvSpPr>
        <p:spPr>
          <a:xfrm>
            <a:off x="58082" y="4842638"/>
            <a:ext cx="898011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CCBBF0"/>
                </a:solidFill>
                <a:latin typeface="Calibri"/>
              </a:rPr>
              <a:t>Cognitive Decline Risk Factors in U.S. Older Adults  ·  DATA 205 Capstone  ·  Spring 2026  ·  Zivar Murphy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</TotalTime>
  <Words>2053</Words>
  <Application>Microsoft Office PowerPoint</Application>
  <PresentationFormat>On-screen Show (16:9)</PresentationFormat>
  <Paragraphs>253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Zivar</dc:creator>
  <cp:keywords/>
  <dc:description>generated using python-pptx</dc:description>
  <cp:lastModifiedBy>Zivar S Murphy</cp:lastModifiedBy>
  <cp:revision>65</cp:revision>
  <dcterms:created xsi:type="dcterms:W3CDTF">2013-01-27T09:14:16Z</dcterms:created>
  <dcterms:modified xsi:type="dcterms:W3CDTF">2026-05-13T13:47:42Z</dcterms:modified>
  <cp:category/>
</cp:coreProperties>
</file>